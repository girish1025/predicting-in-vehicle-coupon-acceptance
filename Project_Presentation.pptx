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2" r:id="rId5"/>
    <p:sldId id="257" r:id="rId6"/>
    <p:sldId id="258" r:id="rId7"/>
    <p:sldId id="309" r:id="rId8"/>
    <p:sldId id="306" r:id="rId9"/>
    <p:sldId id="301" r:id="rId10"/>
    <p:sldId id="304" r:id="rId11"/>
    <p:sldId id="288" r:id="rId12"/>
    <p:sldId id="298" r:id="rId13"/>
    <p:sldId id="299" r:id="rId14"/>
    <p:sldId id="303" r:id="rId15"/>
    <p:sldId id="311" r:id="rId16"/>
    <p:sldId id="268" r:id="rId17"/>
    <p:sldId id="266" r:id="rId18"/>
    <p:sldId id="308" r:id="rId19"/>
    <p:sldId id="307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83258-D306-404B-835A-71965DA1140F}" v="40" dt="2024-12-07T04:54:05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33" autoAdjust="0"/>
    <p:restoredTop sz="96327"/>
  </p:normalViewPr>
  <p:slideViewPr>
    <p:cSldViewPr snapToGrid="0" snapToObjects="1">
      <p:cViewPr>
        <p:scale>
          <a:sx n="87" d="100"/>
          <a:sy n="87" d="100"/>
        </p:scale>
        <p:origin x="604" y="56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a B Prasad" userId="b2e9695e8668d513" providerId="LiveId" clId="{18083258-D306-404B-835A-71965DA1140F}"/>
    <pc:docChg chg="custSel addSld delSld modSld sldOrd">
      <pc:chgData name="Rushika B Prasad" userId="b2e9695e8668d513" providerId="LiveId" clId="{18083258-D306-404B-835A-71965DA1140F}" dt="2024-12-07T05:17:19.245" v="547" actId="2696"/>
      <pc:docMkLst>
        <pc:docMk/>
      </pc:docMkLst>
      <pc:sldChg chg="modSp del mod">
        <pc:chgData name="Rushika B Prasad" userId="b2e9695e8668d513" providerId="LiveId" clId="{18083258-D306-404B-835A-71965DA1140F}" dt="2024-12-03T15:20:30.274" v="67" actId="2696"/>
        <pc:sldMkLst>
          <pc:docMk/>
          <pc:sldMk cId="0" sldId="259"/>
        </pc:sldMkLst>
        <pc:spChg chg="mod">
          <ac:chgData name="Rushika B Prasad" userId="b2e9695e8668d513" providerId="LiveId" clId="{18083258-D306-404B-835A-71965DA1140F}" dt="2024-12-03T14:22:58.616" v="65" actId="6549"/>
          <ac:spMkLst>
            <pc:docMk/>
            <pc:sldMk cId="0" sldId="259"/>
            <ac:spMk id="99" creationId="{00000000-0000-0000-0000-000000000000}"/>
          </ac:spMkLst>
        </pc:spChg>
      </pc:sldChg>
      <pc:sldChg chg="modSp mod">
        <pc:chgData name="Rushika B Prasad" userId="b2e9695e8668d513" providerId="LiveId" clId="{18083258-D306-404B-835A-71965DA1140F}" dt="2024-12-07T04:57:20.759" v="543" actId="20577"/>
        <pc:sldMkLst>
          <pc:docMk/>
          <pc:sldMk cId="0" sldId="266"/>
        </pc:sldMkLst>
        <pc:graphicFrameChg chg="modGraphic">
          <ac:chgData name="Rushika B Prasad" userId="b2e9695e8668d513" providerId="LiveId" clId="{18083258-D306-404B-835A-71965DA1140F}" dt="2024-12-07T04:57:20.759" v="543" actId="20577"/>
          <ac:graphicFrameMkLst>
            <pc:docMk/>
            <pc:sldMk cId="0" sldId="266"/>
            <ac:graphicFrameMk id="2" creationId="{5BE95765-58D0-614F-3D5A-9AD700C2847F}"/>
          </ac:graphicFrameMkLst>
        </pc:graphicFrameChg>
      </pc:sldChg>
      <pc:sldChg chg="addSp delSp modSp del mod">
        <pc:chgData name="Rushika B Prasad" userId="b2e9695e8668d513" providerId="LiveId" clId="{18083258-D306-404B-835A-71965DA1140F}" dt="2024-12-03T15:53:37.939" v="162" actId="2696"/>
        <pc:sldMkLst>
          <pc:docMk/>
          <pc:sldMk cId="1393787779" sldId="267"/>
        </pc:sldMkLst>
        <pc:spChg chg="mod">
          <ac:chgData name="Rushika B Prasad" userId="b2e9695e8668d513" providerId="LiveId" clId="{18083258-D306-404B-835A-71965DA1140F}" dt="2024-12-03T15:52:34.764" v="98" actId="20577"/>
          <ac:spMkLst>
            <pc:docMk/>
            <pc:sldMk cId="1393787779" sldId="267"/>
            <ac:spMk id="143" creationId="{CBFC4937-1E47-1954-7B24-262C1F99261E}"/>
          </ac:spMkLst>
        </pc:spChg>
        <pc:picChg chg="add mod">
          <ac:chgData name="Rushika B Prasad" userId="b2e9695e8668d513" providerId="LiveId" clId="{18083258-D306-404B-835A-71965DA1140F}" dt="2024-12-03T15:53:07.017" v="161" actId="1037"/>
          <ac:picMkLst>
            <pc:docMk/>
            <pc:sldMk cId="1393787779" sldId="267"/>
            <ac:picMk id="3" creationId="{305A6F2A-C390-D413-9F18-CC5F0213547F}"/>
          </ac:picMkLst>
        </pc:picChg>
        <pc:picChg chg="del">
          <ac:chgData name="Rushika B Prasad" userId="b2e9695e8668d513" providerId="LiveId" clId="{18083258-D306-404B-835A-71965DA1140F}" dt="2024-12-03T15:52:20.024" v="70" actId="478"/>
          <ac:picMkLst>
            <pc:docMk/>
            <pc:sldMk cId="1393787779" sldId="267"/>
            <ac:picMk id="1026" creationId="{C586E1F6-79BA-D674-3132-27F32885A2B7}"/>
          </ac:picMkLst>
        </pc:picChg>
      </pc:sldChg>
      <pc:sldChg chg="modSp mod">
        <pc:chgData name="Rushika B Prasad" userId="b2e9695e8668d513" providerId="LiveId" clId="{18083258-D306-404B-835A-71965DA1140F}" dt="2024-12-07T04:55:18.903" v="530" actId="20577"/>
        <pc:sldMkLst>
          <pc:docMk/>
          <pc:sldMk cId="3389292077" sldId="268"/>
        </pc:sldMkLst>
        <pc:spChg chg="mod">
          <ac:chgData name="Rushika B Prasad" userId="b2e9695e8668d513" providerId="LiveId" clId="{18083258-D306-404B-835A-71965DA1140F}" dt="2024-12-07T04:55:18.903" v="530" actId="20577"/>
          <ac:spMkLst>
            <pc:docMk/>
            <pc:sldMk cId="3389292077" sldId="268"/>
            <ac:spMk id="3" creationId="{917D1584-0EA3-AEB1-9184-B09D61FE3158}"/>
          </ac:spMkLst>
        </pc:spChg>
      </pc:sldChg>
      <pc:sldChg chg="modSp mod">
        <pc:chgData name="Rushika B Prasad" userId="b2e9695e8668d513" providerId="LiveId" clId="{18083258-D306-404B-835A-71965DA1140F}" dt="2024-12-03T16:01:14.896" v="224" actId="20577"/>
        <pc:sldMkLst>
          <pc:docMk/>
          <pc:sldMk cId="1877726816" sldId="288"/>
        </pc:sldMkLst>
        <pc:spChg chg="mod">
          <ac:chgData name="Rushika B Prasad" userId="b2e9695e8668d513" providerId="LiveId" clId="{18083258-D306-404B-835A-71965DA1140F}" dt="2024-12-03T13:58:51.760" v="63" actId="20577"/>
          <ac:spMkLst>
            <pc:docMk/>
            <pc:sldMk cId="1877726816" sldId="288"/>
            <ac:spMk id="12" creationId="{1A404B9B-820F-E86E-DAAA-C172C3C8FCEA}"/>
          </ac:spMkLst>
        </pc:spChg>
        <pc:graphicFrameChg chg="modGraphic">
          <ac:chgData name="Rushika B Prasad" userId="b2e9695e8668d513" providerId="LiveId" clId="{18083258-D306-404B-835A-71965DA1140F}" dt="2024-12-03T16:01:14.896" v="224" actId="20577"/>
          <ac:graphicFrameMkLst>
            <pc:docMk/>
            <pc:sldMk cId="1877726816" sldId="288"/>
            <ac:graphicFrameMk id="15" creationId="{F86E4E6B-BCD3-3028-FDB6-18D1BE857949}"/>
          </ac:graphicFrameMkLst>
        </pc:graphicFrameChg>
      </pc:sldChg>
      <pc:sldChg chg="modSp mod">
        <pc:chgData name="Rushika B Prasad" userId="b2e9695e8668d513" providerId="LiveId" clId="{18083258-D306-404B-835A-71965DA1140F}" dt="2024-12-03T13:58:32.097" v="60" actId="20577"/>
        <pc:sldMkLst>
          <pc:docMk/>
          <pc:sldMk cId="1824843381" sldId="298"/>
        </pc:sldMkLst>
        <pc:spChg chg="mod">
          <ac:chgData name="Rushika B Prasad" userId="b2e9695e8668d513" providerId="LiveId" clId="{18083258-D306-404B-835A-71965DA1140F}" dt="2024-12-03T13:58:32.097" v="60" actId="20577"/>
          <ac:spMkLst>
            <pc:docMk/>
            <pc:sldMk cId="1824843381" sldId="298"/>
            <ac:spMk id="10" creationId="{9B1528C0-276B-619A-9913-9EE58ADDF0BD}"/>
          </ac:spMkLst>
        </pc:spChg>
      </pc:sldChg>
      <pc:sldChg chg="modSp mod">
        <pc:chgData name="Rushika B Prasad" userId="b2e9695e8668d513" providerId="LiveId" clId="{18083258-D306-404B-835A-71965DA1140F}" dt="2024-12-07T04:49:34.828" v="478" actId="1038"/>
        <pc:sldMkLst>
          <pc:docMk/>
          <pc:sldMk cId="596631349" sldId="299"/>
        </pc:sldMkLst>
        <pc:graphicFrameChg chg="mod modGraphic">
          <ac:chgData name="Rushika B Prasad" userId="b2e9695e8668d513" providerId="LiveId" clId="{18083258-D306-404B-835A-71965DA1140F}" dt="2024-12-07T04:48:44.673" v="389" actId="1038"/>
          <ac:graphicFrameMkLst>
            <pc:docMk/>
            <pc:sldMk cId="596631349" sldId="299"/>
            <ac:graphicFrameMk id="2" creationId="{3A6186B7-9C13-ED58-4240-AA79D3672883}"/>
          </ac:graphicFrameMkLst>
        </pc:graphicFrameChg>
        <pc:graphicFrameChg chg="modGraphic">
          <ac:chgData name="Rushika B Prasad" userId="b2e9695e8668d513" providerId="LiveId" clId="{18083258-D306-404B-835A-71965DA1140F}" dt="2024-12-07T04:34:12.607" v="299" actId="6549"/>
          <ac:graphicFrameMkLst>
            <pc:docMk/>
            <pc:sldMk cId="596631349" sldId="299"/>
            <ac:graphicFrameMk id="3" creationId="{CB06B472-B3C0-13EA-3BE4-AA5034B5B215}"/>
          </ac:graphicFrameMkLst>
        </pc:graphicFrameChg>
        <pc:picChg chg="mod">
          <ac:chgData name="Rushika B Prasad" userId="b2e9695e8668d513" providerId="LiveId" clId="{18083258-D306-404B-835A-71965DA1140F}" dt="2024-12-07T04:49:34.828" v="478" actId="1038"/>
          <ac:picMkLst>
            <pc:docMk/>
            <pc:sldMk cId="596631349" sldId="299"/>
            <ac:picMk id="7" creationId="{C7CDB6A7-13C4-DC1D-22CE-52A5846E2BB8}"/>
          </ac:picMkLst>
        </pc:picChg>
      </pc:sldChg>
      <pc:sldChg chg="modSp">
        <pc:chgData name="Rushika B Prasad" userId="b2e9695e8668d513" providerId="LiveId" clId="{18083258-D306-404B-835A-71965DA1140F}" dt="2024-12-03T06:52:01.403" v="31" actId="20577"/>
        <pc:sldMkLst>
          <pc:docMk/>
          <pc:sldMk cId="1140375082" sldId="304"/>
        </pc:sldMkLst>
        <pc:spChg chg="mod">
          <ac:chgData name="Rushika B Prasad" userId="b2e9695e8668d513" providerId="LiveId" clId="{18083258-D306-404B-835A-71965DA1140F}" dt="2024-12-03T06:52:01.403" v="31" actId="20577"/>
          <ac:spMkLst>
            <pc:docMk/>
            <pc:sldMk cId="1140375082" sldId="304"/>
            <ac:spMk id="2" creationId="{2F37FDC4-2AE8-CA83-C680-F8DB556D3F3A}"/>
          </ac:spMkLst>
        </pc:spChg>
      </pc:sldChg>
      <pc:sldChg chg="del">
        <pc:chgData name="Rushika B Prasad" userId="b2e9695e8668d513" providerId="LiveId" clId="{18083258-D306-404B-835A-71965DA1140F}" dt="2024-12-07T05:17:14.776" v="546" actId="2696"/>
        <pc:sldMkLst>
          <pc:docMk/>
          <pc:sldMk cId="3862733396" sldId="305"/>
        </pc:sldMkLst>
      </pc:sldChg>
      <pc:sldChg chg="modSp mod">
        <pc:chgData name="Rushika B Prasad" userId="b2e9695e8668d513" providerId="LiveId" clId="{18083258-D306-404B-835A-71965DA1140F}" dt="2024-12-05T05:56:56.831" v="225" actId="1076"/>
        <pc:sldMkLst>
          <pc:docMk/>
          <pc:sldMk cId="759778472" sldId="306"/>
        </pc:sldMkLst>
        <pc:picChg chg="mod">
          <ac:chgData name="Rushika B Prasad" userId="b2e9695e8668d513" providerId="LiveId" clId="{18083258-D306-404B-835A-71965DA1140F}" dt="2024-12-05T05:56:56.831" v="225" actId="1076"/>
          <ac:picMkLst>
            <pc:docMk/>
            <pc:sldMk cId="759778472" sldId="306"/>
            <ac:picMk id="6" creationId="{6712A234-35CF-9C4E-3171-67E8B1A63B83}"/>
          </ac:picMkLst>
        </pc:picChg>
      </pc:sldChg>
      <pc:sldChg chg="delSp modSp mod ord">
        <pc:chgData name="Rushika B Prasad" userId="b2e9695e8668d513" providerId="LiveId" clId="{18083258-D306-404B-835A-71965DA1140F}" dt="2024-12-07T04:30:18.972" v="263" actId="14100"/>
        <pc:sldMkLst>
          <pc:docMk/>
          <pc:sldMk cId="2780293526" sldId="308"/>
        </pc:sldMkLst>
        <pc:spChg chg="mod">
          <ac:chgData name="Rushika B Prasad" userId="b2e9695e8668d513" providerId="LiveId" clId="{18083258-D306-404B-835A-71965DA1140F}" dt="2024-12-07T04:29:51.112" v="258" actId="20577"/>
          <ac:spMkLst>
            <pc:docMk/>
            <pc:sldMk cId="2780293526" sldId="308"/>
            <ac:spMk id="2" creationId="{6F24F080-4ECD-154E-567D-631A0A9BACB2}"/>
          </ac:spMkLst>
        </pc:spChg>
        <pc:spChg chg="del">
          <ac:chgData name="Rushika B Prasad" userId="b2e9695e8668d513" providerId="LiveId" clId="{18083258-D306-404B-835A-71965DA1140F}" dt="2024-12-07T04:29:56.007" v="259" actId="478"/>
          <ac:spMkLst>
            <pc:docMk/>
            <pc:sldMk cId="2780293526" sldId="308"/>
            <ac:spMk id="3" creationId="{26CD9119-FAAC-7C6E-1E96-F2B04A38B4FB}"/>
          </ac:spMkLst>
        </pc:spChg>
        <pc:spChg chg="mod">
          <ac:chgData name="Rushika B Prasad" userId="b2e9695e8668d513" providerId="LiveId" clId="{18083258-D306-404B-835A-71965DA1140F}" dt="2024-12-07T04:30:18.972" v="263" actId="14100"/>
          <ac:spMkLst>
            <pc:docMk/>
            <pc:sldMk cId="2780293526" sldId="308"/>
            <ac:spMk id="4" creationId="{0F2D9A31-6DE6-4A2B-C868-380DDA1E9614}"/>
          </ac:spMkLst>
        </pc:spChg>
      </pc:sldChg>
      <pc:sldChg chg="add">
        <pc:chgData name="Rushika B Prasad" userId="b2e9695e8668d513" providerId="LiveId" clId="{18083258-D306-404B-835A-71965DA1140F}" dt="2024-12-03T15:20:24.091" v="66"/>
        <pc:sldMkLst>
          <pc:docMk/>
          <pc:sldMk cId="0" sldId="309"/>
        </pc:sldMkLst>
      </pc:sldChg>
      <pc:sldChg chg="add del">
        <pc:chgData name="Rushika B Prasad" userId="b2e9695e8668d513" providerId="LiveId" clId="{18083258-D306-404B-835A-71965DA1140F}" dt="2024-12-07T05:17:19.245" v="547" actId="2696"/>
        <pc:sldMkLst>
          <pc:docMk/>
          <pc:sldMk cId="74860118" sldId="310"/>
        </pc:sldMkLst>
      </pc:sldChg>
      <pc:sldChg chg="addSp delSp modSp add mod ord">
        <pc:chgData name="Rushika B Prasad" userId="b2e9695e8668d513" providerId="LiveId" clId="{18083258-D306-404B-835A-71965DA1140F}" dt="2024-12-07T05:02:36.705" v="545"/>
        <pc:sldMkLst>
          <pc:docMk/>
          <pc:sldMk cId="1436576581" sldId="311"/>
        </pc:sldMkLst>
        <pc:picChg chg="add mod">
          <ac:chgData name="Rushika B Prasad" userId="b2e9695e8668d513" providerId="LiveId" clId="{18083258-D306-404B-835A-71965DA1140F}" dt="2024-12-07T04:54:47.667" v="519" actId="1036"/>
          <ac:picMkLst>
            <pc:docMk/>
            <pc:sldMk cId="1436576581" sldId="311"/>
            <ac:picMk id="3" creationId="{9365818D-B319-135E-B03C-1D1FBF1FC673}"/>
          </ac:picMkLst>
        </pc:picChg>
        <pc:picChg chg="del">
          <ac:chgData name="Rushika B Prasad" userId="b2e9695e8668d513" providerId="LiveId" clId="{18083258-D306-404B-835A-71965DA1140F}" dt="2024-12-07T04:54:05.101" v="479" actId="478"/>
          <ac:picMkLst>
            <pc:docMk/>
            <pc:sldMk cId="1436576581" sldId="311"/>
            <ac:picMk id="1026" creationId="{756F3941-AEA9-DC0A-F742-288F387C6594}"/>
          </ac:picMkLst>
        </pc:picChg>
      </pc:sldChg>
      <pc:sldChg chg="modSp add del">
        <pc:chgData name="Rushika B Prasad" userId="b2e9695e8668d513" providerId="LiveId" clId="{18083258-D306-404B-835A-71965DA1140F}" dt="2024-12-05T06:00:00.514" v="244" actId="2696"/>
        <pc:sldMkLst>
          <pc:docMk/>
          <pc:sldMk cId="2251898970" sldId="312"/>
        </pc:sldMkLst>
        <pc:picChg chg="mod">
          <ac:chgData name="Rushika B Prasad" userId="b2e9695e8668d513" providerId="LiveId" clId="{18083258-D306-404B-835A-71965DA1140F}" dt="2024-12-05T05:59:56.967" v="243" actId="1076"/>
          <ac:picMkLst>
            <pc:docMk/>
            <pc:sldMk cId="2251898970" sldId="312"/>
            <ac:picMk id="1028" creationId="{3B33DFD5-9A90-B08A-4441-D76382E8C8C6}"/>
          </ac:picMkLst>
        </pc:picChg>
        <pc:picChg chg="mod">
          <ac:chgData name="Rushika B Prasad" userId="b2e9695e8668d513" providerId="LiveId" clId="{18083258-D306-404B-835A-71965DA1140F}" dt="2024-12-05T05:59:55.596" v="242" actId="1076"/>
          <ac:picMkLst>
            <pc:docMk/>
            <pc:sldMk cId="2251898970" sldId="312"/>
            <ac:picMk id="1030" creationId="{76452617-ABCD-89C3-5258-7311200DE286}"/>
          </ac:picMkLst>
        </pc:picChg>
      </pc:sldChg>
      <pc:sldChg chg="modSp add del mod">
        <pc:chgData name="Rushika B Prasad" userId="b2e9695e8668d513" providerId="LiveId" clId="{18083258-D306-404B-835A-71965DA1140F}" dt="2024-12-05T05:58:59.952" v="238" actId="2696"/>
        <pc:sldMkLst>
          <pc:docMk/>
          <pc:sldMk cId="4281973728" sldId="312"/>
        </pc:sldMkLst>
        <pc:picChg chg="mod">
          <ac:chgData name="Rushika B Prasad" userId="b2e9695e8668d513" providerId="LiveId" clId="{18083258-D306-404B-835A-71965DA1140F}" dt="2024-12-05T05:58:46.781" v="232" actId="1076"/>
          <ac:picMkLst>
            <pc:docMk/>
            <pc:sldMk cId="4281973728" sldId="312"/>
            <ac:picMk id="5" creationId="{921440D7-B4FE-D5FF-5A9E-554D91A53BE4}"/>
          </ac:picMkLst>
        </pc:picChg>
        <pc:picChg chg="mod">
          <ac:chgData name="Rushika B Prasad" userId="b2e9695e8668d513" providerId="LiveId" clId="{18083258-D306-404B-835A-71965DA1140F}" dt="2024-12-05T05:58:49.299" v="233" actId="1076"/>
          <ac:picMkLst>
            <pc:docMk/>
            <pc:sldMk cId="4281973728" sldId="312"/>
            <ac:picMk id="6" creationId="{7843603D-AC23-0F80-E750-189EC629739E}"/>
          </ac:picMkLst>
        </pc:picChg>
        <pc:picChg chg="mod">
          <ac:chgData name="Rushika B Prasad" userId="b2e9695e8668d513" providerId="LiveId" clId="{18083258-D306-404B-835A-71965DA1140F}" dt="2024-12-05T05:58:56.919" v="237" actId="1076"/>
          <ac:picMkLst>
            <pc:docMk/>
            <pc:sldMk cId="4281973728" sldId="312"/>
            <ac:picMk id="7" creationId="{E45A69B9-5CAC-F45F-B7D6-371D20251512}"/>
          </ac:picMkLst>
        </pc:picChg>
        <pc:picChg chg="mod">
          <ac:chgData name="Rushika B Prasad" userId="b2e9695e8668d513" providerId="LiveId" clId="{18083258-D306-404B-835A-71965DA1140F}" dt="2024-12-05T05:58:55.540" v="236" actId="1076"/>
          <ac:picMkLst>
            <pc:docMk/>
            <pc:sldMk cId="4281973728" sldId="312"/>
            <ac:picMk id="11" creationId="{DD6EEFA2-6A6A-9CC9-8D8C-44F92DAEC013}"/>
          </ac:picMkLst>
        </pc:picChg>
        <pc:picChg chg="mod">
          <ac:chgData name="Rushika B Prasad" userId="b2e9695e8668d513" providerId="LiveId" clId="{18083258-D306-404B-835A-71965DA1140F}" dt="2024-12-05T05:58:53.644" v="235" actId="1076"/>
          <ac:picMkLst>
            <pc:docMk/>
            <pc:sldMk cId="4281973728" sldId="312"/>
            <ac:picMk id="13" creationId="{B34254C9-B7F5-3699-7992-B48CA4E8198A}"/>
          </ac:picMkLst>
        </pc:picChg>
        <pc:picChg chg="mod">
          <ac:chgData name="Rushika B Prasad" userId="b2e9695e8668d513" providerId="LiveId" clId="{18083258-D306-404B-835A-71965DA1140F}" dt="2024-12-05T05:58:52.035" v="234" actId="1076"/>
          <ac:picMkLst>
            <pc:docMk/>
            <pc:sldMk cId="4281973728" sldId="312"/>
            <ac:picMk id="15" creationId="{C8EFF789-C086-2AFA-E1F8-A37043249A6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43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9efded3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9efded33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19efded33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5CBE17F-3241-DFC0-92C3-DC639377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a25f76703_0_12:notes">
            <a:extLst>
              <a:ext uri="{FF2B5EF4-FFF2-40B4-BE49-F238E27FC236}">
                <a16:creationId xmlns:a16="http://schemas.microsoft.com/office/drawing/2014/main" id="{5505F450-6907-066C-E195-A6750608C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a25f76703_0_12:notes">
            <a:extLst>
              <a:ext uri="{FF2B5EF4-FFF2-40B4-BE49-F238E27FC236}">
                <a16:creationId xmlns:a16="http://schemas.microsoft.com/office/drawing/2014/main" id="{F9B3F64A-1F47-02B7-DB89-800FA8495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1a25f76703_0_12:notes">
            <a:extLst>
              <a:ext uri="{FF2B5EF4-FFF2-40B4-BE49-F238E27FC236}">
                <a16:creationId xmlns:a16="http://schemas.microsoft.com/office/drawing/2014/main" id="{DCA8EA25-6B33-BC5B-AD5B-E647D82985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033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FB84DB5-086F-41E9-230A-47E55044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a25f76703_0_12:notes">
            <a:extLst>
              <a:ext uri="{FF2B5EF4-FFF2-40B4-BE49-F238E27FC236}">
                <a16:creationId xmlns:a16="http://schemas.microsoft.com/office/drawing/2014/main" id="{9AE969E4-66D5-9059-DCA5-A68B46C4C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a25f76703_0_12:notes">
            <a:extLst>
              <a:ext uri="{FF2B5EF4-FFF2-40B4-BE49-F238E27FC236}">
                <a16:creationId xmlns:a16="http://schemas.microsoft.com/office/drawing/2014/main" id="{411B3FCD-C593-BCDE-D4F6-DCDC7EF74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1a25f76703_0_12:notes">
            <a:extLst>
              <a:ext uri="{FF2B5EF4-FFF2-40B4-BE49-F238E27FC236}">
                <a16:creationId xmlns:a16="http://schemas.microsoft.com/office/drawing/2014/main" id="{88BAFA0F-6FBF-AEBE-0A0F-3E0D0602FC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7578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a4a988ee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a4a988ee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1a4a988ee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>
  <p:cSld name="1_Section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2529642"/>
            <a:ext cx="8229600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414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1_Content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837565"/>
            <a:ext cx="8229600" cy="33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00599B"/>
              </a:buClr>
              <a:buSzPts val="2000"/>
              <a:buNone/>
              <a:defRPr sz="2000">
                <a:solidFill>
                  <a:srgbClr val="00599B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00599B"/>
              </a:buClr>
              <a:buSzPts val="2400"/>
              <a:buNone/>
              <a:defRPr sz="2400">
                <a:solidFill>
                  <a:srgbClr val="00599B"/>
                </a:solidFill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rgbClr val="00599B"/>
              </a:buClr>
              <a:buSzPts val="2400"/>
              <a:buNone/>
              <a:defRPr sz="2400">
                <a:solidFill>
                  <a:srgbClr val="00599B"/>
                </a:solidFill>
              </a:defRPr>
            </a:lvl3pPr>
            <a:lvl4pPr marL="1828800" lvl="3" indent="-228600" algn="l">
              <a:spcBef>
                <a:spcPts val="480"/>
              </a:spcBef>
              <a:spcAft>
                <a:spcPts val="0"/>
              </a:spcAft>
              <a:buClr>
                <a:srgbClr val="00599B"/>
              </a:buClr>
              <a:buSzPts val="2400"/>
              <a:buNone/>
              <a:defRPr sz="2400">
                <a:solidFill>
                  <a:srgbClr val="00599B"/>
                </a:solidFill>
              </a:defRPr>
            </a:lvl4pPr>
            <a:lvl5pPr marL="2286000" lvl="4" indent="-228600" algn="l">
              <a:spcBef>
                <a:spcPts val="480"/>
              </a:spcBef>
              <a:spcAft>
                <a:spcPts val="0"/>
              </a:spcAft>
              <a:buClr>
                <a:srgbClr val="00599B"/>
              </a:buClr>
              <a:buSzPts val="2400"/>
              <a:buNone/>
              <a:defRPr sz="2400">
                <a:solidFill>
                  <a:srgbClr val="00599B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57200" y="1310641"/>
            <a:ext cx="8229600" cy="3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825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  <p:sldLayoutId id="2147483667" r:id="rId13"/>
    <p:sldLayoutId id="2147483668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mlr.org/papers/volume18/16-003/16-003.pdf" TargetMode="External"/><Relationship Id="rId2" Type="http://schemas.openxmlformats.org/officeDocument/2006/relationships/hyperlink" Target="https://archive.ics.uci.edu/static/public/603/in+vehicle+coupon+recommendation.zip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kaggle.com/code/maherabdelllatif/invehicle-coupon-recommendation" TargetMode="External"/><Relationship Id="rId4" Type="http://schemas.openxmlformats.org/officeDocument/2006/relationships/hyperlink" Target="https://github.com/dikaaka/In-Vehicle-Coupon-Recommendation-Project/blob/main/STAGE%200/FINAL%20PROJECT%20-%20STAGE%200.pdf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2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247625" y="731451"/>
            <a:ext cx="82296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IN" sz="3200" dirty="0"/>
              <a:t>Predicting In-Vehicle Coupon Acceptance</a:t>
            </a:r>
            <a:endParaRPr sz="6600" dirty="0"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>
            <a:off x="5283840" y="3507690"/>
            <a:ext cx="3707767" cy="124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1800" b="1" u="sng" dirty="0"/>
              <a:t>Group 11</a:t>
            </a:r>
            <a:endParaRPr sz="1800" b="1" u="sng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1600" dirty="0"/>
              <a:t>Rushika Badri Prasad</a:t>
            </a:r>
            <a:endParaRPr sz="16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1600" dirty="0"/>
              <a:t>Trupti Shailendra Gandhi</a:t>
            </a:r>
            <a:endParaRPr sz="16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1600" dirty="0"/>
              <a:t>Girish Sunkadakatte Chandrappa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125358" y="50669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2"/>
          </p:nvPr>
        </p:nvSpPr>
        <p:spPr>
          <a:xfrm>
            <a:off x="457200" y="1842701"/>
            <a:ext cx="8229600" cy="106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0" lvl="0" indent="0" algn="just" rtl="0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 sz="1800" dirty="0"/>
              <a:t>Predict whether a customer will accept an in-vehicle coupon based on demographic, contextual, and behavioral factors to help businesses optimize marketing strategies and improve engagement.</a:t>
            </a:r>
          </a:p>
          <a:p>
            <a:pPr lvl="0" algn="just" rtl="0">
              <a:spcBef>
                <a:spcPts val="60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127000" lvl="0" indent="0" algn="just" rtl="0"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lang="en-US" sz="1400" dirty="0"/>
          </a:p>
          <a:p>
            <a:pPr marL="127000" lvl="0" indent="0" algn="just" rtl="0"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-44675" y="10400"/>
            <a:ext cx="54108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Description</a:t>
            </a:r>
            <a:endParaRPr/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3017390" y="2107875"/>
          <a:ext cx="5720150" cy="2590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/>
                        <a:t>Category</a:t>
                      </a:r>
                      <a:endParaRPr sz="11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Features</a:t>
                      </a:r>
                      <a:endParaRPr sz="11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Demographic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Gender, Age, </a:t>
                      </a:r>
                      <a:r>
                        <a:rPr lang="en-US" sz="900" dirty="0" err="1"/>
                        <a:t>has_children</a:t>
                      </a:r>
                      <a:r>
                        <a:rPr lang="en-US" sz="900" dirty="0"/>
                        <a:t>, Education, Income, </a:t>
                      </a:r>
                      <a:r>
                        <a:rPr lang="en-US" sz="900" dirty="0" err="1"/>
                        <a:t>maritalStatus</a:t>
                      </a:r>
                      <a:r>
                        <a:rPr lang="en-US" sz="900" dirty="0"/>
                        <a:t>, Occupation</a:t>
                      </a:r>
                      <a:endParaRPr sz="900"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Behavioral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Bar, CoffeeHouse, CarryAway, RestaurantLessThan20, Restaurant20to50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Coupon Characteristics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Coupon, Expiration</a:t>
                      </a:r>
                      <a:endParaRPr sz="900"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Environmental Factors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Destination, Passenger, Time, Weather, Temperature</a:t>
                      </a:r>
                      <a:endParaRPr sz="900"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Proximity Information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toCouponGEF_5min, toCoupon_GEQ15min, toCoupon_GEQ25min</a:t>
                      </a:r>
                      <a:endParaRPr sz="900"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Navigational Features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direction_same,direction_opposite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Target Variable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/>
                        <a:t>Y</a:t>
                      </a:r>
                      <a:endParaRPr sz="900"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9" name="Google Shape;99;p17"/>
          <p:cNvSpPr txBox="1"/>
          <p:nvPr/>
        </p:nvSpPr>
        <p:spPr>
          <a:xfrm>
            <a:off x="-74410" y="718050"/>
            <a:ext cx="9100425" cy="1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 dirty="0">
                <a:solidFill>
                  <a:schemeClr val="dk1"/>
                </a:solidFill>
              </a:rPr>
              <a:t>The dataset comprises </a:t>
            </a:r>
            <a:r>
              <a:rPr lang="en-US" sz="1700" b="1" dirty="0">
                <a:solidFill>
                  <a:schemeClr val="accent1"/>
                </a:solidFill>
              </a:rPr>
              <a:t>12,684 observations </a:t>
            </a:r>
            <a:r>
              <a:rPr lang="en-US" sz="1700" b="1">
                <a:solidFill>
                  <a:schemeClr val="accent1"/>
                </a:solidFill>
              </a:rPr>
              <a:t>and 26 </a:t>
            </a:r>
            <a:r>
              <a:rPr lang="en-US" sz="1700" b="1" dirty="0">
                <a:solidFill>
                  <a:schemeClr val="accent1"/>
                </a:solidFill>
              </a:rPr>
              <a:t>features</a:t>
            </a:r>
            <a:r>
              <a:rPr lang="en-US" sz="1700" dirty="0">
                <a:solidFill>
                  <a:schemeClr val="dk1"/>
                </a:solidFill>
              </a:rPr>
              <a:t>, including both </a:t>
            </a:r>
            <a:r>
              <a:rPr lang="en-US" sz="1700" b="1" dirty="0">
                <a:solidFill>
                  <a:schemeClr val="accent1"/>
                </a:solidFill>
              </a:rPr>
              <a:t>categorical and numerical variables </a:t>
            </a:r>
            <a:r>
              <a:rPr lang="en-US" sz="1700" dirty="0">
                <a:solidFill>
                  <a:schemeClr val="dk1"/>
                </a:solidFill>
              </a:rPr>
              <a:t>from various domains, aimed at understanding the factors influencing coupon redemption behavior.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17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D53AD-9AF9-FF81-FEF8-B7BCF3259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28D055-C084-0DBB-C933-926F8235F4BE}"/>
              </a:ext>
            </a:extLst>
          </p:cNvPr>
          <p:cNvSpPr txBox="1"/>
          <p:nvPr/>
        </p:nvSpPr>
        <p:spPr>
          <a:xfrm>
            <a:off x="523822" y="869902"/>
            <a:ext cx="7748752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Coffee House coupons are the most frequently offered, with the highest acceptance rates for Carry Out &amp; Take Away and Restaurant (&lt;$20) coupons, while Bar coupons have the lowest acceptance rate.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Most users are young adults, highest acceptance rate is observed on both teenagers and young adults.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Most common weather is “Sunny” and shows the highest coupon acceptance.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Majority of users are from low and medium-income groups, which also have the highest coupon acceptance rates.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Coupons are most accepted when users have destination 'No Urgent Place’.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Target variable is balanced in nature.</a:t>
            </a:r>
            <a:endParaRPr lang="en-IN" sz="1400" dirty="0"/>
          </a:p>
        </p:txBody>
      </p:sp>
      <p:sp>
        <p:nvSpPr>
          <p:cNvPr id="10" name="Title 18">
            <a:extLst>
              <a:ext uri="{FF2B5EF4-FFF2-40B4-BE49-F238E27FC236}">
                <a16:creationId xmlns:a16="http://schemas.microsoft.com/office/drawing/2014/main" id="{3F6088B1-E184-39A0-AE84-A5FCD3A5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" y="81117"/>
            <a:ext cx="8229600" cy="591117"/>
          </a:xfrm>
        </p:spPr>
        <p:txBody>
          <a:bodyPr/>
          <a:lstStyle/>
          <a:p>
            <a:r>
              <a:rPr lang="en-US" dirty="0"/>
              <a:t>Exploratory Data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63136-B685-5FC8-3D7D-B42A3D5DD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65" y="631638"/>
            <a:ext cx="8103859" cy="3591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76E815-1E3C-3F06-4B74-963023F3B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30" y="647514"/>
            <a:ext cx="8111362" cy="3578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7F5BC0-FDA0-F035-6F44-19EB1F126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08" y="628665"/>
            <a:ext cx="7994645" cy="3578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8996EE-D607-5A68-9996-CCC22C829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9" y="612789"/>
            <a:ext cx="8090894" cy="35785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A454D9-E02B-BE73-2F17-3998244BC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39" y="612789"/>
            <a:ext cx="7990448" cy="3623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12A234-35CF-9C4E-3171-67E8B1A63B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65" y="589016"/>
            <a:ext cx="7983711" cy="364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7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4D67-AE88-FFF7-AD22-3DBB88E6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2E400E-5867-2F50-4992-4F946CC9BE51}"/>
              </a:ext>
            </a:extLst>
          </p:cNvPr>
          <p:cNvSpPr txBox="1"/>
          <p:nvPr/>
        </p:nvSpPr>
        <p:spPr>
          <a:xfrm>
            <a:off x="523822" y="869902"/>
            <a:ext cx="7748752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Coffee House coupons are the most frequently offered, with the highest acceptance rates for Carry Out &amp; Take Away and Restaurant (&lt;$20) coupons, while Bar coupons have the lowest acceptance rate.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Most users are young adults, highest acceptance rate is observed on both teenagers and young adults.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Most common weather is “Sunny” and shows the highest coupon acceptance.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Majority of users are from low and medium-income groups, which also have the highest coupon acceptance rates.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Coupons are most accepted when users have destination 'No Urgent Place’.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Target variable is balanced in nature.</a:t>
            </a:r>
            <a:endParaRPr lang="en-IN" sz="1400" dirty="0"/>
          </a:p>
        </p:txBody>
      </p:sp>
      <p:sp>
        <p:nvSpPr>
          <p:cNvPr id="10" name="Title 18">
            <a:extLst>
              <a:ext uri="{FF2B5EF4-FFF2-40B4-BE49-F238E27FC236}">
                <a16:creationId xmlns:a16="http://schemas.microsoft.com/office/drawing/2014/main" id="{FA0A4874-FC2D-5ACA-DED1-BEC775EE4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/>
          <a:lstStyle/>
          <a:p>
            <a:r>
              <a:rPr lang="en-US" dirty="0"/>
              <a:t>Exploratory Data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35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8">
            <a:extLst>
              <a:ext uri="{FF2B5EF4-FFF2-40B4-BE49-F238E27FC236}">
                <a16:creationId xmlns:a16="http://schemas.microsoft.com/office/drawing/2014/main" id="{4CA32788-9168-E20A-7178-BC8BF646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712"/>
            <a:ext cx="6924369" cy="857250"/>
          </a:xfrm>
        </p:spPr>
        <p:txBody>
          <a:bodyPr/>
          <a:lstStyle/>
          <a:p>
            <a:r>
              <a:rPr lang="en-US" dirty="0"/>
              <a:t>Exploratory Data Analysis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37FDC4-2AE8-CA83-C680-F8DB556D3F3A}"/>
              </a:ext>
            </a:extLst>
          </p:cNvPr>
          <p:cNvSpPr txBox="1"/>
          <p:nvPr/>
        </p:nvSpPr>
        <p:spPr>
          <a:xfrm>
            <a:off x="184355" y="863962"/>
            <a:ext cx="88564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Coupons are most accepted in sunny weather, with "Restaurant (&lt;20)" </a:t>
            </a:r>
            <a:r>
              <a:rPr lang="en-US" sz="1200"/>
              <a:t>and "Carry </a:t>
            </a:r>
            <a:r>
              <a:rPr lang="en-US" sz="1200" dirty="0"/>
              <a:t>out &amp; Take away" being accepted more frequently than rejected.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Young adults have the highest coupon acceptance rates, while seniors and teenagers show significantly lower acceptance regardless of the coupon type.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"Coffee House" and "Restaurant (&lt;20)" coupons are most accepted with travel times under 5 minutes, while coupons requiring over 25 minutes of travel are rarely accepted.</a:t>
            </a:r>
          </a:p>
          <a:p>
            <a:endParaRPr lang="en-IN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123A1B-8368-AAEC-ACFC-C5A7D846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148" y="2034614"/>
            <a:ext cx="4682613" cy="296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FC0462-9514-F117-550D-6A316D9DA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468" y="2034614"/>
            <a:ext cx="4664293" cy="293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9E4A6B9-691B-2C58-81EA-C28AF3203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971" y="2086897"/>
            <a:ext cx="4582674" cy="287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37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8;p21">
            <a:extLst>
              <a:ext uri="{FF2B5EF4-FFF2-40B4-BE49-F238E27FC236}">
                <a16:creationId xmlns:a16="http://schemas.microsoft.com/office/drawing/2014/main" id="{65552A37-F07B-E5DA-3305-CD38A42FDEA6}"/>
              </a:ext>
            </a:extLst>
          </p:cNvPr>
          <p:cNvSpPr txBox="1">
            <a:spLocks/>
          </p:cNvSpPr>
          <p:nvPr/>
        </p:nvSpPr>
        <p:spPr>
          <a:xfrm>
            <a:off x="-1027696" y="-73135"/>
            <a:ext cx="8229600" cy="8574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/>
              <a:t>Data Preprocessing</a:t>
            </a:r>
            <a:endParaRPr lang="en-US" dirty="0"/>
          </a:p>
        </p:txBody>
      </p:sp>
      <p:sp>
        <p:nvSpPr>
          <p:cNvPr id="12" name="Google Shape;129;p21">
            <a:extLst>
              <a:ext uri="{FF2B5EF4-FFF2-40B4-BE49-F238E27FC236}">
                <a16:creationId xmlns:a16="http://schemas.microsoft.com/office/drawing/2014/main" id="{1A404B9B-820F-E86E-DAAA-C172C3C8FCEA}"/>
              </a:ext>
            </a:extLst>
          </p:cNvPr>
          <p:cNvSpPr txBox="1">
            <a:spLocks/>
          </p:cNvSpPr>
          <p:nvPr/>
        </p:nvSpPr>
        <p:spPr>
          <a:xfrm>
            <a:off x="86043" y="644698"/>
            <a:ext cx="5463540" cy="232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>
              <a:spcBef>
                <a:spcPts val="320"/>
              </a:spcBef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Missing values in feature car (99.14%).</a:t>
            </a:r>
          </a:p>
          <a:p>
            <a:pPr marL="457200" indent="-330200">
              <a:spcBef>
                <a:spcPts val="320"/>
              </a:spcBef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Redundancy in Data : direction_opp</a:t>
            </a:r>
          </a:p>
          <a:p>
            <a:pPr marL="457200" indent="-330200">
              <a:spcBef>
                <a:spcPts val="0"/>
              </a:spcBef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Handling missing values by Mode Imputation.</a:t>
            </a:r>
          </a:p>
          <a:p>
            <a:pPr marL="457200" indent="-330200">
              <a:spcBef>
                <a:spcPts val="0"/>
              </a:spcBef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Feature Engineering.</a:t>
            </a:r>
          </a:p>
          <a:p>
            <a:pPr marL="584200" lvl="1" indent="0">
              <a:spcBef>
                <a:spcPts val="0"/>
              </a:spcBef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2FF072D6-CB9B-8CE3-E5AD-AF3411576F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7813" y="0"/>
            <a:ext cx="35083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21AC37-2766-7AB9-3F9A-BA7B2DBD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717" y="847669"/>
            <a:ext cx="3508375" cy="3868376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6E4E6B-BCD3-3028-FDB6-18D1BE857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009273"/>
              </p:ext>
            </p:extLst>
          </p:nvPr>
        </p:nvGraphicFramePr>
        <p:xfrm>
          <a:off x="1326630" y="1948269"/>
          <a:ext cx="4294945" cy="238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000">
                  <a:extLst>
                    <a:ext uri="{9D8B030D-6E8A-4147-A177-3AD203B41FA5}">
                      <a16:colId xmlns:a16="http://schemas.microsoft.com/office/drawing/2014/main" val="3557384197"/>
                    </a:ext>
                  </a:extLst>
                </a:gridCol>
                <a:gridCol w="1962945">
                  <a:extLst>
                    <a:ext uri="{9D8B030D-6E8A-4147-A177-3AD203B41FA5}">
                      <a16:colId xmlns:a16="http://schemas.microsoft.com/office/drawing/2014/main" val="3028320310"/>
                    </a:ext>
                  </a:extLst>
                </a:gridCol>
              </a:tblGrid>
              <a:tr h="235342">
                <a:tc>
                  <a:txBody>
                    <a:bodyPr/>
                    <a:lstStyle/>
                    <a:p>
                      <a:r>
                        <a:rPr lang="en-US" sz="1100" dirty="0"/>
                        <a:t>Features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Details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34987"/>
                  </a:ext>
                </a:extLst>
              </a:tr>
              <a:tr h="519138">
                <a:tc>
                  <a:txBody>
                    <a:bodyPr/>
                    <a:lstStyle/>
                    <a:p>
                      <a:r>
                        <a:rPr lang="en-US" sz="1050" dirty="0"/>
                        <a:t>to_coupon_geq5min</a:t>
                      </a:r>
                      <a:br>
                        <a:rPr lang="en-US" sz="1050" dirty="0"/>
                      </a:br>
                      <a:r>
                        <a:rPr lang="en-US" sz="1050" dirty="0"/>
                        <a:t>to_coupon_geq15min</a:t>
                      </a:r>
                      <a:br>
                        <a:rPr lang="en-US" sz="1050" dirty="0"/>
                      </a:br>
                      <a:r>
                        <a:rPr lang="en-US" sz="1050" dirty="0"/>
                        <a:t>to_coupon_geq25min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 err="1"/>
                        <a:t>to_coupon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912892"/>
                  </a:ext>
                </a:extLst>
              </a:tr>
              <a:tr h="664496">
                <a:tc>
                  <a:txBody>
                    <a:bodyPr/>
                    <a:lstStyle/>
                    <a:p>
                      <a:r>
                        <a:rPr lang="en-US" sz="1050" dirty="0"/>
                        <a:t>age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Teenagers</a:t>
                      </a:r>
                      <a:br>
                        <a:rPr lang="en-US" sz="1050" dirty="0"/>
                      </a:br>
                      <a:r>
                        <a:rPr lang="en-US" sz="1050" dirty="0"/>
                        <a:t>Young Adults</a:t>
                      </a:r>
                    </a:p>
                    <a:p>
                      <a:r>
                        <a:rPr lang="en-US" sz="1050" dirty="0"/>
                        <a:t>Middle Aged Adult</a:t>
                      </a:r>
                      <a:br>
                        <a:rPr lang="en-US" sz="1050" dirty="0"/>
                      </a:br>
                      <a:r>
                        <a:rPr lang="en-US" sz="1050" dirty="0"/>
                        <a:t>Seniors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80562"/>
                  </a:ext>
                </a:extLst>
              </a:tr>
              <a:tr h="228421">
                <a:tc>
                  <a:txBody>
                    <a:bodyPr/>
                    <a:lstStyle/>
                    <a:p>
                      <a:r>
                        <a:rPr lang="en-US" sz="1050" dirty="0"/>
                        <a:t>Occupations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Into Different Categories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832112"/>
                  </a:ext>
                </a:extLst>
              </a:tr>
              <a:tr h="519138">
                <a:tc>
                  <a:txBody>
                    <a:bodyPr/>
                    <a:lstStyle/>
                    <a:p>
                      <a:r>
                        <a:rPr lang="en-US" sz="1050" dirty="0"/>
                        <a:t>Income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Low_Income</a:t>
                      </a:r>
                      <a:br>
                        <a:rPr lang="en-US" sz="1050" dirty="0"/>
                      </a:br>
                      <a:r>
                        <a:rPr lang="en-US" sz="1050" dirty="0"/>
                        <a:t>Medium_Income</a:t>
                      </a:r>
                      <a:br>
                        <a:rPr lang="en-US" sz="1050" dirty="0"/>
                      </a:br>
                      <a:r>
                        <a:rPr lang="en-US" sz="1050" dirty="0" err="1"/>
                        <a:t>High_Income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590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72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79595-EF45-E8C3-001E-5C5619E8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8;p21">
            <a:extLst>
              <a:ext uri="{FF2B5EF4-FFF2-40B4-BE49-F238E27FC236}">
                <a16:creationId xmlns:a16="http://schemas.microsoft.com/office/drawing/2014/main" id="{970DF4CC-4E6B-1F73-D085-249573308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72" y="-120765"/>
            <a:ext cx="4676932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  <a:endParaRPr dirty="0"/>
          </a:p>
        </p:txBody>
      </p:sp>
      <p:sp>
        <p:nvSpPr>
          <p:cNvPr id="8" name="Google Shape;129;p21">
            <a:extLst>
              <a:ext uri="{FF2B5EF4-FFF2-40B4-BE49-F238E27FC236}">
                <a16:creationId xmlns:a16="http://schemas.microsoft.com/office/drawing/2014/main" id="{8BDE8E20-2654-E6C4-5EF7-B6AC8C7F146D}"/>
              </a:ext>
            </a:extLst>
          </p:cNvPr>
          <p:cNvSpPr txBox="1">
            <a:spLocks/>
          </p:cNvSpPr>
          <p:nvPr/>
        </p:nvSpPr>
        <p:spPr>
          <a:xfrm>
            <a:off x="457200" y="1248798"/>
            <a:ext cx="8229600" cy="232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>
              <a:spcBef>
                <a:spcPts val="320"/>
              </a:spcBef>
              <a:buSzPts val="1600"/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528C0-276B-619A-9913-9EE58ADDF0BD}"/>
              </a:ext>
            </a:extLst>
          </p:cNvPr>
          <p:cNvSpPr txBox="1"/>
          <p:nvPr/>
        </p:nvSpPr>
        <p:spPr>
          <a:xfrm>
            <a:off x="254833" y="801975"/>
            <a:ext cx="51865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Time7AM and </a:t>
            </a:r>
            <a:r>
              <a:rPr lang="en-US" sz="1600" dirty="0" err="1"/>
              <a:t>destination_passengerWork_Alone</a:t>
            </a:r>
            <a:r>
              <a:rPr lang="en-US" sz="1600" dirty="0"/>
              <a:t> is highly correlated.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Observed singularity issue for destination_passengerWork_Alone.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Feature Selection by VIF(VIF &lt;0.5)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AE0EEB-D812-136B-04D2-29D10EDE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702" y="519314"/>
            <a:ext cx="3466406" cy="462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4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B477CA51-5860-165E-8C3A-E5728005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>
            <a:extLst>
              <a:ext uri="{FF2B5EF4-FFF2-40B4-BE49-F238E27FC236}">
                <a16:creationId xmlns:a16="http://schemas.microsoft.com/office/drawing/2014/main" id="{CE12DF18-8C56-E6E3-7360-C0E1AA86C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05" y="26853"/>
            <a:ext cx="6553200" cy="63882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Models and Evaluation</a:t>
            </a:r>
            <a:endParaRPr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06B472-B3C0-13EA-3BE4-AA5034B5B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193098"/>
              </p:ext>
            </p:extLst>
          </p:nvPr>
        </p:nvGraphicFramePr>
        <p:xfrm>
          <a:off x="5413219" y="738569"/>
          <a:ext cx="3419793" cy="151749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87793">
                  <a:extLst>
                    <a:ext uri="{9D8B030D-6E8A-4147-A177-3AD203B41FA5}">
                      <a16:colId xmlns:a16="http://schemas.microsoft.com/office/drawing/2014/main" val="35288501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93367847"/>
                    </a:ext>
                  </a:extLst>
                </a:gridCol>
              </a:tblGrid>
              <a:tr h="28305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Sample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91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Training – 68.57%</a:t>
                      </a:r>
                    </a:p>
                    <a:p>
                      <a:pPr algn="ctr"/>
                      <a:r>
                        <a:rPr lang="en-US" sz="1050" b="0" dirty="0"/>
                        <a:t>Test – 64%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6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Training – 69.29%</a:t>
                      </a:r>
                    </a:p>
                    <a:p>
                      <a:pPr algn="ctr"/>
                      <a:r>
                        <a:rPr lang="en-US" sz="1050" dirty="0"/>
                        <a:t>Test – 62.33%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803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QDA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Training – 87.29%</a:t>
                      </a:r>
                    </a:p>
                    <a:p>
                      <a:pPr algn="ctr"/>
                      <a:r>
                        <a:rPr lang="en-US" sz="1050" dirty="0"/>
                        <a:t>Test – 63.67%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3407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6186B7-9C13-ED58-4240-AA79D3672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822344"/>
              </p:ext>
            </p:extLst>
          </p:nvPr>
        </p:nvGraphicFramePr>
        <p:xfrm>
          <a:off x="4281277" y="2749397"/>
          <a:ext cx="4660885" cy="1534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99208">
                  <a:extLst>
                    <a:ext uri="{9D8B030D-6E8A-4147-A177-3AD203B41FA5}">
                      <a16:colId xmlns:a16="http://schemas.microsoft.com/office/drawing/2014/main" val="3528850126"/>
                    </a:ext>
                  </a:extLst>
                </a:gridCol>
                <a:gridCol w="849630">
                  <a:extLst>
                    <a:ext uri="{9D8B030D-6E8A-4147-A177-3AD203B41FA5}">
                      <a16:colId xmlns:a16="http://schemas.microsoft.com/office/drawing/2014/main" val="1355697720"/>
                    </a:ext>
                  </a:extLst>
                </a:gridCol>
                <a:gridCol w="849630">
                  <a:extLst>
                    <a:ext uri="{9D8B030D-6E8A-4147-A177-3AD203B41FA5}">
                      <a16:colId xmlns:a16="http://schemas.microsoft.com/office/drawing/2014/main" val="1175362117"/>
                    </a:ext>
                  </a:extLst>
                </a:gridCol>
                <a:gridCol w="1081111">
                  <a:extLst>
                    <a:ext uri="{9D8B030D-6E8A-4147-A177-3AD203B41FA5}">
                      <a16:colId xmlns:a16="http://schemas.microsoft.com/office/drawing/2014/main" val="4249639395"/>
                    </a:ext>
                  </a:extLst>
                </a:gridCol>
                <a:gridCol w="981306">
                  <a:extLst>
                    <a:ext uri="{9D8B030D-6E8A-4147-A177-3AD203B41FA5}">
                      <a16:colId xmlns:a16="http://schemas.microsoft.com/office/drawing/2014/main" val="4293367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Specificity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Positive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Negative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91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52.24%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73.49%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61.40%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65.59%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6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61.19%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63.25%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57.34%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66.88%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803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QDA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64.18%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63.25%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58.50%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68.63%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3407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D6DEA1-0A1D-FCC3-3FB8-D804786F0D1B}"/>
              </a:ext>
            </a:extLst>
          </p:cNvPr>
          <p:cNvSpPr txBox="1"/>
          <p:nvPr/>
        </p:nvSpPr>
        <p:spPr>
          <a:xfrm>
            <a:off x="51205" y="738569"/>
            <a:ext cx="5362014" cy="1584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Logistic regression demonstrates balanced training and testing accuracy, showing good generalization but lower sensitivity.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LDA has better sensitivity than logistic regression but slightly worse testing accuracy, indicating possible overfitting.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QDA shows a significant drop in accuracy from training to testing, indicating overfitting, despite its slightly better sensitivity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CDB6A7-13C4-DC1D-22CE-52A5846E2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580" y="607464"/>
            <a:ext cx="3507008" cy="384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3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3109-1F2F-CF80-AB39-503F5516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124"/>
            <a:ext cx="8229600" cy="857250"/>
          </a:xfrm>
        </p:spPr>
        <p:txBody>
          <a:bodyPr/>
          <a:lstStyle/>
          <a:p>
            <a:r>
              <a:rPr lang="en-US" dirty="0"/>
              <a:t>Feature Importance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CD977-CD01-CEB5-E6A7-42A2228B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31" y="1016847"/>
            <a:ext cx="6050626" cy="34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0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1691B447-E09C-46B1-7881-B65654A0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>
            <a:extLst>
              <a:ext uri="{FF2B5EF4-FFF2-40B4-BE49-F238E27FC236}">
                <a16:creationId xmlns:a16="http://schemas.microsoft.com/office/drawing/2014/main" id="{42FA16D1-7BAA-B736-6540-CA13169D93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527" y="85379"/>
            <a:ext cx="8229600" cy="61688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ROC Curve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5818D-B319-135E-B03C-1D1FBF1FC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5" y="617112"/>
            <a:ext cx="6532475" cy="398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7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0AB7-7432-2D10-8CCE-4606CA27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Summary and 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7D1584-0EA3-AEB1-9184-B09D61FE315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9145" y="1244806"/>
            <a:ext cx="8229600" cy="2500576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1400" dirty="0"/>
              <a:t>Logistic Regression achieves the best balance with </a:t>
            </a:r>
            <a:r>
              <a:rPr lang="en-US" sz="1400" b="1" dirty="0">
                <a:solidFill>
                  <a:schemeClr val="accent1"/>
                </a:solidFill>
              </a:rPr>
              <a:t>68.57% training accuracy</a:t>
            </a:r>
            <a:r>
              <a:rPr lang="en-US" sz="1400" dirty="0"/>
              <a:t> and </a:t>
            </a:r>
            <a:r>
              <a:rPr lang="en-US" sz="1400" b="1" dirty="0">
                <a:solidFill>
                  <a:schemeClr val="accent1"/>
                </a:solidFill>
              </a:rPr>
              <a:t>64% test accuracy</a:t>
            </a:r>
            <a:r>
              <a:rPr lang="en-US" sz="1400" dirty="0">
                <a:solidFill>
                  <a:schemeClr val="accent1"/>
                </a:solidFill>
              </a:rPr>
              <a:t>,</a:t>
            </a:r>
            <a:r>
              <a:rPr lang="en-US" sz="1400" dirty="0"/>
              <a:t> demonstrating strong generalization.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400" dirty="0"/>
              <a:t>LDA performs </a:t>
            </a:r>
            <a:r>
              <a:rPr lang="en-US" sz="1400" b="1" dirty="0">
                <a:solidFill>
                  <a:schemeClr val="accent1"/>
                </a:solidFill>
              </a:rPr>
              <a:t>better on sensitivity </a:t>
            </a:r>
            <a:r>
              <a:rPr lang="en-US" sz="1400" dirty="0"/>
              <a:t>(61.19%) but shows a drop in test accuracy (62.33%), suggesting potential overfitting.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400" dirty="0"/>
              <a:t>QDA has the highest training accuracy (87.29%) but struggles with test accuracy (63.67%) due to significant overfitting.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accent1"/>
                </a:solidFill>
              </a:rPr>
              <a:t>Logistic Regression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en-US" sz="1400" dirty="0"/>
              <a:t>is preferred for its balanced and generalizable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89292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457200" y="23899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Scope</a:t>
            </a:r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2"/>
          </p:nvPr>
        </p:nvSpPr>
        <p:spPr>
          <a:xfrm>
            <a:off x="457200" y="1310641"/>
            <a:ext cx="8229600" cy="309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spcBef>
                <a:spcPts val="32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Explore Random Forest or XGBoost for improved accuracy.</a:t>
            </a:r>
          </a:p>
          <a:p>
            <a:pPr lvl="0" algn="l" rtl="0">
              <a:spcBef>
                <a:spcPts val="32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Extend to multi-class classification for coupon names.</a:t>
            </a:r>
          </a:p>
          <a:p>
            <a:pPr lvl="0" algn="l" rtl="0">
              <a:spcBef>
                <a:spcPts val="32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Enhance performance with advanced feature engineering/selection.</a:t>
            </a:r>
          </a:p>
          <a:p>
            <a:pPr lvl="0" algn="l" rtl="0">
              <a:spcBef>
                <a:spcPts val="320"/>
              </a:spcBef>
              <a:spcAft>
                <a:spcPts val="0"/>
              </a:spcAft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Leverage larger datasets for better results.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E95765-58D0-614F-3D5A-9AD700C28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538403"/>
              </p:ext>
            </p:extLst>
          </p:nvPr>
        </p:nvGraphicFramePr>
        <p:xfrm>
          <a:off x="2709348" y="2710348"/>
          <a:ext cx="6096000" cy="15632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58592">
                  <a:extLst>
                    <a:ext uri="{9D8B030D-6E8A-4147-A177-3AD203B41FA5}">
                      <a16:colId xmlns:a16="http://schemas.microsoft.com/office/drawing/2014/main" val="3528850126"/>
                    </a:ext>
                  </a:extLst>
                </a:gridCol>
                <a:gridCol w="2205408">
                  <a:extLst>
                    <a:ext uri="{9D8B030D-6E8A-4147-A177-3AD203B41FA5}">
                      <a16:colId xmlns:a16="http://schemas.microsoft.com/office/drawing/2014/main" val="13556977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93367847"/>
                    </a:ext>
                  </a:extLst>
                </a:gridCol>
              </a:tblGrid>
              <a:tr h="28305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Dataset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Sample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91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Training – 68.49%</a:t>
                      </a:r>
                    </a:p>
                    <a:p>
                      <a:pPr algn="l"/>
                      <a:r>
                        <a:rPr lang="en-US" sz="1100" dirty="0"/>
                        <a:t>Test – 67.47%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Training – 68.57%</a:t>
                      </a:r>
                    </a:p>
                    <a:p>
                      <a:pPr algn="l"/>
                      <a:r>
                        <a:rPr lang="en-US" sz="1100" dirty="0"/>
                        <a:t>Test – 64%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6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Training – 69.09%</a:t>
                      </a:r>
                    </a:p>
                    <a:p>
                      <a:pPr algn="l"/>
                      <a:r>
                        <a:rPr lang="en-US" sz="1100" dirty="0"/>
                        <a:t>Test – 67.31%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Training – 69.29%</a:t>
                      </a:r>
                    </a:p>
                    <a:p>
                      <a:pPr algn="l"/>
                      <a:r>
                        <a:rPr lang="en-US" sz="1100" dirty="0"/>
                        <a:t>Test – 62.33%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803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QDA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Training – 73.18%</a:t>
                      </a:r>
                    </a:p>
                    <a:p>
                      <a:pPr algn="l"/>
                      <a:r>
                        <a:rPr lang="en-US" sz="1100" dirty="0"/>
                        <a:t>Test – 70.07%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Training – 87.29%</a:t>
                      </a:r>
                    </a:p>
                    <a:p>
                      <a:pPr algn="l"/>
                      <a:r>
                        <a:rPr lang="en-US" sz="1100" dirty="0"/>
                        <a:t>Test – 63.67%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3407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F080-4ECD-154E-567D-631A0A9B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D9A31-6DE6-4A2B-C868-380DDA1E96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10641"/>
            <a:ext cx="8229600" cy="2346959"/>
          </a:xfrm>
        </p:spPr>
        <p:txBody>
          <a:bodyPr/>
          <a:lstStyle/>
          <a:p>
            <a:r>
              <a:rPr lang="fi-FI" dirty="0"/>
              <a:t>Dataset: </a:t>
            </a:r>
            <a:r>
              <a:rPr lang="fi-FI" dirty="0">
                <a:hlinkClick r:id="rId2" tooltip="https://archive.ics.uci.edu/static/public/603/in+vehicle+coupon+recommendation.zip"/>
              </a:rPr>
              <a:t>https://archive.ics.uci.edu/static/public/603/in+vehicle+coupon+recommendation.zip</a:t>
            </a:r>
            <a:endParaRPr lang="fi-FI" dirty="0"/>
          </a:p>
          <a:p>
            <a:r>
              <a:rPr lang="fi-FI" dirty="0"/>
              <a:t>Research Paper: </a:t>
            </a:r>
            <a:r>
              <a:rPr lang="fi-FI" dirty="0">
                <a:hlinkClick r:id="rId3" tooltip="https://jmlr.org/papers/volume18/16-003/16-003.pdf"/>
              </a:rPr>
              <a:t>https://jmlr.org/papers/volume18/16-003/16-003.pdf</a:t>
            </a:r>
            <a:endParaRPr lang="fi-FI" dirty="0"/>
          </a:p>
          <a:p>
            <a:r>
              <a:rPr lang="fi-FI" dirty="0">
                <a:hlinkClick r:id="rId4" tooltip="https://github.com/dikaaka/in-vehicle-coupon-recommendation-project/blob/main/stage%200/final%20project%20-%20stage%200.pdf"/>
              </a:rPr>
              <a:t>https://github.com/dikaaka/In-Vehicle-Coupon-Recommendation-Project/blob/main/STAGE%200/FINAL%20PROJECT%20-%20STAGE%200.pdf</a:t>
            </a:r>
            <a:endParaRPr lang="fi-FI" dirty="0"/>
          </a:p>
          <a:p>
            <a:r>
              <a:rPr lang="fi-FI" dirty="0">
                <a:hlinkClick r:id="rId5" tooltip="https://www.kaggle.com/code/maherabdelllatif/invehicle-coupon-recommendation"/>
              </a:rPr>
              <a:t>https://www.kaggle.com/code/maherabdelllatif/invehicle-coupon-recommendation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80293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ipster man sitting on the floor with crossed arms 3d rendering">
            <a:extLst>
              <a:ext uri="{FF2B5EF4-FFF2-40B4-BE49-F238E27FC236}">
                <a16:creationId xmlns:a16="http://schemas.microsoft.com/office/drawing/2014/main" id="{4775421E-8E74-5114-AE2D-752AEF512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0"/>
            <a:ext cx="5058697" cy="505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D8F1B9-9340-5CB0-F5F2-FCDE2832C453}"/>
              </a:ext>
            </a:extLst>
          </p:cNvPr>
          <p:cNvSpPr/>
          <p:nvPr/>
        </p:nvSpPr>
        <p:spPr>
          <a:xfrm>
            <a:off x="582015" y="963327"/>
            <a:ext cx="22236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Thank</a:t>
            </a:r>
            <a:endParaRPr lang="en-IN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F17AF-27E4-92C7-1206-CC0417AC2F94}"/>
              </a:ext>
            </a:extLst>
          </p:cNvPr>
          <p:cNvSpPr/>
          <p:nvPr/>
        </p:nvSpPr>
        <p:spPr>
          <a:xfrm>
            <a:off x="6338300" y="964673"/>
            <a:ext cx="14412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You</a:t>
            </a:r>
            <a:endParaRPr lang="en-IN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325885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TA PPT Instructions and Template 11-08-22" id="{1DD8F69D-3BE5-2E4A-ADE8-359BFABEDF91}" vid="{555AF6FE-7A58-9B47-84E1-A2718D1600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31EFAEB4635F44B02D12818C7C5E8E" ma:contentTypeVersion="3" ma:contentTypeDescription="Create a new document." ma:contentTypeScope="" ma:versionID="fbd76989a7c6a7e8dcb819703fe67632">
  <xsd:schema xmlns:xsd="http://www.w3.org/2001/XMLSchema" xmlns:xs="http://www.w3.org/2001/XMLSchema" xmlns:p="http://schemas.microsoft.com/office/2006/metadata/properties" xmlns:ns2="c1bca3df-4730-4367-a65e-d9c50c831633" targetNamespace="http://schemas.microsoft.com/office/2006/metadata/properties" ma:root="true" ma:fieldsID="5350344e237c6ab4f32476e521cbb251" ns2:_="">
    <xsd:import namespace="c1bca3df-4730-4367-a65e-d9c50c8316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bca3df-4730-4367-a65e-d9c50c8316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99CAED-701D-44BF-B45E-0631AD0D07E6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56169281-d10e-4687-8d86-e0ae9795bb4c"/>
    <ds:schemaRef ds:uri="http://schemas.microsoft.com/office/2006/documentManagement/types"/>
    <ds:schemaRef ds:uri="d98033a5-711e-4d41-9a92-34dc22feb152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EED873B-0620-4F5E-B616-D7ED616B8A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bca3df-4730-4367-a65e-d9c50c8316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PowerPoint</Template>
  <TotalTime>11544</TotalTime>
  <Words>949</Words>
  <Application>Microsoft Office PowerPoint</Application>
  <PresentationFormat>On-screen Show (16:9)</PresentationFormat>
  <Paragraphs>143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Helvetica</vt:lpstr>
      <vt:lpstr>Noto Sans Symbols</vt:lpstr>
      <vt:lpstr>Wingdings</vt:lpstr>
      <vt:lpstr>UTA Accessible Template</vt:lpstr>
      <vt:lpstr>PowerPoint Presentation</vt:lpstr>
      <vt:lpstr>Predicting In-Vehicle Coupon Acceptance</vt:lpstr>
      <vt:lpstr>Problem Statement</vt:lpstr>
      <vt:lpstr>Dataset Description</vt:lpstr>
      <vt:lpstr>Exploratory Data Analysis</vt:lpstr>
      <vt:lpstr>Exploratory Data Analysis</vt:lpstr>
      <vt:lpstr>Exploratory Data Analysis</vt:lpstr>
      <vt:lpstr>PowerPoint Presentation</vt:lpstr>
      <vt:lpstr>Data Preprocessing</vt:lpstr>
      <vt:lpstr>Models and Evaluation</vt:lpstr>
      <vt:lpstr>Feature Importance </vt:lpstr>
      <vt:lpstr>ROC Curve</vt:lpstr>
      <vt:lpstr>Summary and Conclusion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Pusapati, Sai Samin Varma</dc:creator>
  <cp:lastModifiedBy>Rushika B Prasad</cp:lastModifiedBy>
  <cp:revision>22</cp:revision>
  <dcterms:created xsi:type="dcterms:W3CDTF">2024-11-15T22:00:36Z</dcterms:created>
  <dcterms:modified xsi:type="dcterms:W3CDTF">2024-12-07T05:17:23Z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0x0101000031EFAEB4635F44B02D12818C7C5E8E</vt:lpwstr>
  </property>
</Properties>
</file>